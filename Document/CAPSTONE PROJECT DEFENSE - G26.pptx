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rial Bold" charset="1" panose="020B0704020202020204"/>
      <p:regular r:id="rId27"/>
    </p:embeddedFont>
    <p:embeddedFont>
      <p:font typeface="Arial" charset="1" panose="020B0604020202020204"/>
      <p:regular r:id="rId28"/>
    </p:embeddedFont>
    <p:embeddedFont>
      <p:font typeface="Calibri (MS) Bold" charset="1" panose="020F0702030404030204"/>
      <p:regular r:id="rId29"/>
    </p:embeddedFont>
    <p:embeddedFont>
      <p:font typeface="Noto Sans" charset="1" panose="020B0502040504020204"/>
      <p:regular r:id="rId30"/>
    </p:embeddedFont>
    <p:embeddedFont>
      <p:font typeface="Noto Sans Bold" charset="1" panose="020B0802040504020204"/>
      <p:regular r:id="rId31"/>
    </p:embeddedFont>
    <p:embeddedFont>
      <p:font typeface="Canva Sans Bold" charset="1" panose="020B0803030501040103"/>
      <p:regular r:id="rId32"/>
    </p:embeddedFont>
    <p:embeddedFont>
      <p:font typeface="Canva Sans" charset="1" panose="020B0503030501040103"/>
      <p:regular r:id="rId33"/>
    </p:embeddedFont>
    <p:embeddedFont>
      <p:font typeface="Sedgwick Ave" charset="1" panose="000005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03836" y="2786634"/>
            <a:ext cx="176212" cy="3712845"/>
            <a:chOff x="0" y="0"/>
            <a:chExt cx="234950" cy="4950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696" cy="4949952"/>
            </a:xfrm>
            <a:custGeom>
              <a:avLst/>
              <a:gdLst/>
              <a:ahLst/>
              <a:cxnLst/>
              <a:rect r="r" b="b" t="t" l="l"/>
              <a:pathLst>
                <a:path h="4949952" w="234696">
                  <a:moveTo>
                    <a:pt x="234696" y="0"/>
                  </a:moveTo>
                  <a:lnTo>
                    <a:pt x="0" y="0"/>
                  </a:lnTo>
                  <a:lnTo>
                    <a:pt x="0" y="4949952"/>
                  </a:lnTo>
                  <a:lnTo>
                    <a:pt x="234696" y="4949952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F7954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973050" y="3893058"/>
            <a:ext cx="3774186" cy="1472184"/>
            <a:chOff x="0" y="0"/>
            <a:chExt cx="5032248" cy="19629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32248" cy="1962912"/>
            </a:xfrm>
            <a:custGeom>
              <a:avLst/>
              <a:gdLst/>
              <a:ahLst/>
              <a:cxnLst/>
              <a:rect r="r" b="b" t="t" l="l"/>
              <a:pathLst>
                <a:path h="1962912" w="5032248">
                  <a:moveTo>
                    <a:pt x="0" y="0"/>
                  </a:moveTo>
                  <a:lnTo>
                    <a:pt x="5032248" y="0"/>
                  </a:lnTo>
                  <a:lnTo>
                    <a:pt x="5032248" y="1962912"/>
                  </a:lnTo>
                  <a:lnTo>
                    <a:pt x="0" y="196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" r="0" b="-1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848928" y="256096"/>
            <a:ext cx="13898308" cy="94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7"/>
              </a:lnSpc>
            </a:pPr>
            <a:r>
              <a:rPr lang="en-US" b="true" sz="6039" spc="-13">
                <a:solidFill>
                  <a:srgbClr val="244060"/>
                </a:solidFill>
                <a:latin typeface="Arial Bold"/>
                <a:ea typeface="Arial Bold"/>
                <a:cs typeface="Arial Bold"/>
                <a:sym typeface="Arial Bold"/>
              </a:rPr>
              <a:t>CAPSTONE PROJECT DEFENSE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23747" y="4025079"/>
            <a:ext cx="2383155" cy="40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Members: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06902" y="3958404"/>
            <a:ext cx="6766148" cy="341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285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Vu Hoang Anh </a:t>
            </a:r>
            <a:r>
              <a:rPr lang="en-US" sz="285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 HE172381</a:t>
            </a:r>
          </a:p>
          <a:p>
            <a:pPr algn="l">
              <a:lnSpc>
                <a:spcPts val="4024"/>
              </a:lnSpc>
            </a:pPr>
            <a:r>
              <a:rPr lang="en-US" sz="285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Nguyen Viet Duc – HE176246 </a:t>
            </a:r>
          </a:p>
          <a:p>
            <a:pPr algn="l">
              <a:lnSpc>
                <a:spcPts val="4024"/>
              </a:lnSpc>
            </a:pPr>
            <a:r>
              <a:rPr lang="en-US" sz="285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Phan Duy Hung  – HE173329</a:t>
            </a:r>
          </a:p>
          <a:p>
            <a:pPr algn="l">
              <a:lnSpc>
                <a:spcPts val="4024"/>
              </a:lnSpc>
            </a:pPr>
            <a:r>
              <a:rPr lang="en-US" sz="285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Pham Quoc Minh – HE172395</a:t>
            </a:r>
          </a:p>
          <a:p>
            <a:pPr algn="l">
              <a:lnSpc>
                <a:spcPts val="4024"/>
              </a:lnSpc>
            </a:pPr>
            <a:r>
              <a:rPr lang="en-US" sz="285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Nguyen Viet Sang - HE172569</a:t>
            </a:r>
          </a:p>
          <a:p>
            <a:pPr algn="l">
              <a:lnSpc>
                <a:spcPts val="3424"/>
              </a:lnSpc>
            </a:pPr>
          </a:p>
          <a:p>
            <a:pPr algn="l">
              <a:lnSpc>
                <a:spcPts val="3424"/>
              </a:lnSpc>
            </a:pPr>
            <a:r>
              <a:rPr lang="en-US" sz="285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Dr. Nguyen Manh Hien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36167" y="6976604"/>
            <a:ext cx="1758315" cy="40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9639" y="1706649"/>
            <a:ext cx="10052685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80"/>
              </a:lnSpc>
            </a:pPr>
            <a:r>
              <a:rPr lang="en-US" sz="3600" b="true">
                <a:solidFill>
                  <a:srgbClr val="001F5F"/>
                </a:solidFill>
                <a:latin typeface="Arial Bold"/>
                <a:ea typeface="Arial Bold"/>
                <a:cs typeface="Arial Bold"/>
                <a:sym typeface="Arial Bold"/>
              </a:rPr>
              <a:t>AI-Powered Examination and Programming Practice Platform for FPT University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15981" y="8485698"/>
            <a:ext cx="374201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 spc="-1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Group: SEP490_G26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963445">
            <a:off x="-1572566" y="10041012"/>
            <a:ext cx="3962311" cy="4304604"/>
            <a:chOff x="0" y="0"/>
            <a:chExt cx="1043572" cy="1133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3572" cy="1133723"/>
            </a:xfrm>
            <a:custGeom>
              <a:avLst/>
              <a:gdLst/>
              <a:ahLst/>
              <a:cxnLst/>
              <a:rect r="r" b="b" t="t" l="l"/>
              <a:pathLst>
                <a:path h="1133723" w="1043572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5170FF">
                <a:alpha val="8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043314" y="2161800"/>
            <a:ext cx="12217749" cy="890639"/>
            <a:chOff x="0" y="0"/>
            <a:chExt cx="3383060" cy="246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83060" cy="246615"/>
            </a:xfrm>
            <a:custGeom>
              <a:avLst/>
              <a:gdLst/>
              <a:ahLst/>
              <a:cxnLst/>
              <a:rect r="r" b="b" t="t" l="l"/>
              <a:pathLst>
                <a:path h="246615" w="3383060">
                  <a:moveTo>
                    <a:pt x="9505" y="0"/>
                  </a:moveTo>
                  <a:lnTo>
                    <a:pt x="3373555" y="0"/>
                  </a:lnTo>
                  <a:cubicBezTo>
                    <a:pt x="3376076" y="0"/>
                    <a:pt x="3378494" y="1001"/>
                    <a:pt x="3380276" y="2784"/>
                  </a:cubicBezTo>
                  <a:cubicBezTo>
                    <a:pt x="3382059" y="4566"/>
                    <a:pt x="3383060" y="6984"/>
                    <a:pt x="3383060" y="9505"/>
                  </a:cubicBezTo>
                  <a:lnTo>
                    <a:pt x="3383060" y="237110"/>
                  </a:lnTo>
                  <a:cubicBezTo>
                    <a:pt x="3383060" y="239631"/>
                    <a:pt x="3382059" y="242049"/>
                    <a:pt x="3380276" y="243831"/>
                  </a:cubicBezTo>
                  <a:cubicBezTo>
                    <a:pt x="3378494" y="245614"/>
                    <a:pt x="3376076" y="246615"/>
                    <a:pt x="3373555" y="246615"/>
                  </a:cubicBezTo>
                  <a:lnTo>
                    <a:pt x="9505" y="246615"/>
                  </a:lnTo>
                  <a:cubicBezTo>
                    <a:pt x="6984" y="246615"/>
                    <a:pt x="4566" y="245614"/>
                    <a:pt x="2784" y="243831"/>
                  </a:cubicBezTo>
                  <a:cubicBezTo>
                    <a:pt x="1001" y="242049"/>
                    <a:pt x="0" y="239631"/>
                    <a:pt x="0" y="237110"/>
                  </a:cubicBezTo>
                  <a:lnTo>
                    <a:pt x="0" y="9505"/>
                  </a:lnTo>
                  <a:cubicBezTo>
                    <a:pt x="0" y="6984"/>
                    <a:pt x="1001" y="4566"/>
                    <a:pt x="2784" y="2784"/>
                  </a:cubicBezTo>
                  <a:cubicBezTo>
                    <a:pt x="4566" y="1001"/>
                    <a:pt x="6984" y="0"/>
                    <a:pt x="950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83060" cy="284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15995" y="2281754"/>
            <a:ext cx="650731" cy="6507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D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284548" y="2350307"/>
            <a:ext cx="513625" cy="51362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4134721" y="2310606"/>
            <a:ext cx="0" cy="593028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5422180" y="2310606"/>
            <a:ext cx="0" cy="593028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4470880" y="2350307"/>
            <a:ext cx="571261" cy="571261"/>
          </a:xfrm>
          <a:custGeom>
            <a:avLst/>
            <a:gdLst/>
            <a:ahLst/>
            <a:cxnLst/>
            <a:rect r="r" b="b" t="t" l="l"/>
            <a:pathLst>
              <a:path h="571261" w="571261">
                <a:moveTo>
                  <a:pt x="0" y="0"/>
                </a:moveTo>
                <a:lnTo>
                  <a:pt x="571261" y="0"/>
                </a:lnTo>
                <a:lnTo>
                  <a:pt x="571261" y="571261"/>
                </a:lnTo>
                <a:lnTo>
                  <a:pt x="0" y="571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026937" y="3251755"/>
            <a:ext cx="12217749" cy="890639"/>
            <a:chOff x="0" y="0"/>
            <a:chExt cx="3383060" cy="2466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83060" cy="246615"/>
            </a:xfrm>
            <a:custGeom>
              <a:avLst/>
              <a:gdLst/>
              <a:ahLst/>
              <a:cxnLst/>
              <a:rect r="r" b="b" t="t" l="l"/>
              <a:pathLst>
                <a:path h="246615" w="3383060">
                  <a:moveTo>
                    <a:pt x="9505" y="0"/>
                  </a:moveTo>
                  <a:lnTo>
                    <a:pt x="3373555" y="0"/>
                  </a:lnTo>
                  <a:cubicBezTo>
                    <a:pt x="3376076" y="0"/>
                    <a:pt x="3378494" y="1001"/>
                    <a:pt x="3380276" y="2784"/>
                  </a:cubicBezTo>
                  <a:cubicBezTo>
                    <a:pt x="3382059" y="4566"/>
                    <a:pt x="3383060" y="6984"/>
                    <a:pt x="3383060" y="9505"/>
                  </a:cubicBezTo>
                  <a:lnTo>
                    <a:pt x="3383060" y="237110"/>
                  </a:lnTo>
                  <a:cubicBezTo>
                    <a:pt x="3383060" y="239631"/>
                    <a:pt x="3382059" y="242049"/>
                    <a:pt x="3380276" y="243831"/>
                  </a:cubicBezTo>
                  <a:cubicBezTo>
                    <a:pt x="3378494" y="245614"/>
                    <a:pt x="3376076" y="246615"/>
                    <a:pt x="3373555" y="246615"/>
                  </a:cubicBezTo>
                  <a:lnTo>
                    <a:pt x="9505" y="246615"/>
                  </a:lnTo>
                  <a:cubicBezTo>
                    <a:pt x="6984" y="246615"/>
                    <a:pt x="4566" y="245614"/>
                    <a:pt x="2784" y="243831"/>
                  </a:cubicBezTo>
                  <a:cubicBezTo>
                    <a:pt x="1001" y="242049"/>
                    <a:pt x="0" y="239631"/>
                    <a:pt x="0" y="237110"/>
                  </a:cubicBezTo>
                  <a:lnTo>
                    <a:pt x="0" y="9505"/>
                  </a:lnTo>
                  <a:cubicBezTo>
                    <a:pt x="0" y="6984"/>
                    <a:pt x="1001" y="4566"/>
                    <a:pt x="2784" y="2784"/>
                  </a:cubicBezTo>
                  <a:cubicBezTo>
                    <a:pt x="4566" y="1001"/>
                    <a:pt x="6984" y="0"/>
                    <a:pt x="950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383060" cy="284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199618" y="3371709"/>
            <a:ext cx="650731" cy="65073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D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268171" y="3440262"/>
            <a:ext cx="513625" cy="51362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4118344" y="3400561"/>
            <a:ext cx="0" cy="593028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405803" y="3400561"/>
            <a:ext cx="0" cy="593028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3026937" y="4341710"/>
            <a:ext cx="12217749" cy="890639"/>
            <a:chOff x="0" y="0"/>
            <a:chExt cx="3383060" cy="24661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83060" cy="246615"/>
            </a:xfrm>
            <a:custGeom>
              <a:avLst/>
              <a:gdLst/>
              <a:ahLst/>
              <a:cxnLst/>
              <a:rect r="r" b="b" t="t" l="l"/>
              <a:pathLst>
                <a:path h="246615" w="3383060">
                  <a:moveTo>
                    <a:pt x="9505" y="0"/>
                  </a:moveTo>
                  <a:lnTo>
                    <a:pt x="3373555" y="0"/>
                  </a:lnTo>
                  <a:cubicBezTo>
                    <a:pt x="3376076" y="0"/>
                    <a:pt x="3378494" y="1001"/>
                    <a:pt x="3380276" y="2784"/>
                  </a:cubicBezTo>
                  <a:cubicBezTo>
                    <a:pt x="3382059" y="4566"/>
                    <a:pt x="3383060" y="6984"/>
                    <a:pt x="3383060" y="9505"/>
                  </a:cubicBezTo>
                  <a:lnTo>
                    <a:pt x="3383060" y="237110"/>
                  </a:lnTo>
                  <a:cubicBezTo>
                    <a:pt x="3383060" y="239631"/>
                    <a:pt x="3382059" y="242049"/>
                    <a:pt x="3380276" y="243831"/>
                  </a:cubicBezTo>
                  <a:cubicBezTo>
                    <a:pt x="3378494" y="245614"/>
                    <a:pt x="3376076" y="246615"/>
                    <a:pt x="3373555" y="246615"/>
                  </a:cubicBezTo>
                  <a:lnTo>
                    <a:pt x="9505" y="246615"/>
                  </a:lnTo>
                  <a:cubicBezTo>
                    <a:pt x="6984" y="246615"/>
                    <a:pt x="4566" y="245614"/>
                    <a:pt x="2784" y="243831"/>
                  </a:cubicBezTo>
                  <a:cubicBezTo>
                    <a:pt x="1001" y="242049"/>
                    <a:pt x="0" y="239631"/>
                    <a:pt x="0" y="237110"/>
                  </a:cubicBezTo>
                  <a:lnTo>
                    <a:pt x="0" y="9505"/>
                  </a:lnTo>
                  <a:cubicBezTo>
                    <a:pt x="0" y="6984"/>
                    <a:pt x="1001" y="4566"/>
                    <a:pt x="2784" y="2784"/>
                  </a:cubicBezTo>
                  <a:cubicBezTo>
                    <a:pt x="4566" y="1001"/>
                    <a:pt x="6984" y="0"/>
                    <a:pt x="950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383060" cy="284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199618" y="4461664"/>
            <a:ext cx="650731" cy="650731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D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268171" y="4530217"/>
            <a:ext cx="513625" cy="51362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40" id="40"/>
          <p:cNvSpPr/>
          <p:nvPr/>
        </p:nvSpPr>
        <p:spPr>
          <a:xfrm>
            <a:off x="4118344" y="4490516"/>
            <a:ext cx="0" cy="593028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5405803" y="4490516"/>
            <a:ext cx="0" cy="593028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3026937" y="5431666"/>
            <a:ext cx="12217749" cy="890639"/>
            <a:chOff x="0" y="0"/>
            <a:chExt cx="3383060" cy="24661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383060" cy="246615"/>
            </a:xfrm>
            <a:custGeom>
              <a:avLst/>
              <a:gdLst/>
              <a:ahLst/>
              <a:cxnLst/>
              <a:rect r="r" b="b" t="t" l="l"/>
              <a:pathLst>
                <a:path h="246615" w="3383060">
                  <a:moveTo>
                    <a:pt x="9505" y="0"/>
                  </a:moveTo>
                  <a:lnTo>
                    <a:pt x="3373555" y="0"/>
                  </a:lnTo>
                  <a:cubicBezTo>
                    <a:pt x="3376076" y="0"/>
                    <a:pt x="3378494" y="1001"/>
                    <a:pt x="3380276" y="2784"/>
                  </a:cubicBezTo>
                  <a:cubicBezTo>
                    <a:pt x="3382059" y="4566"/>
                    <a:pt x="3383060" y="6984"/>
                    <a:pt x="3383060" y="9505"/>
                  </a:cubicBezTo>
                  <a:lnTo>
                    <a:pt x="3383060" y="237110"/>
                  </a:lnTo>
                  <a:cubicBezTo>
                    <a:pt x="3383060" y="239631"/>
                    <a:pt x="3382059" y="242049"/>
                    <a:pt x="3380276" y="243831"/>
                  </a:cubicBezTo>
                  <a:cubicBezTo>
                    <a:pt x="3378494" y="245614"/>
                    <a:pt x="3376076" y="246615"/>
                    <a:pt x="3373555" y="246615"/>
                  </a:cubicBezTo>
                  <a:lnTo>
                    <a:pt x="9505" y="246615"/>
                  </a:lnTo>
                  <a:cubicBezTo>
                    <a:pt x="6984" y="246615"/>
                    <a:pt x="4566" y="245614"/>
                    <a:pt x="2784" y="243831"/>
                  </a:cubicBezTo>
                  <a:cubicBezTo>
                    <a:pt x="1001" y="242049"/>
                    <a:pt x="0" y="239631"/>
                    <a:pt x="0" y="237110"/>
                  </a:cubicBezTo>
                  <a:lnTo>
                    <a:pt x="0" y="9505"/>
                  </a:lnTo>
                  <a:cubicBezTo>
                    <a:pt x="0" y="6984"/>
                    <a:pt x="1001" y="4566"/>
                    <a:pt x="2784" y="2784"/>
                  </a:cubicBezTo>
                  <a:cubicBezTo>
                    <a:pt x="4566" y="1001"/>
                    <a:pt x="6984" y="0"/>
                    <a:pt x="950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383060" cy="284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199618" y="5551619"/>
            <a:ext cx="650731" cy="650731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D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268171" y="5620172"/>
            <a:ext cx="513625" cy="513625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1" id="51"/>
          <p:cNvSpPr/>
          <p:nvPr/>
        </p:nvSpPr>
        <p:spPr>
          <a:xfrm>
            <a:off x="4118344" y="5580471"/>
            <a:ext cx="0" cy="593028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5405803" y="5580471"/>
            <a:ext cx="0" cy="593028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3026937" y="6521621"/>
            <a:ext cx="12217749" cy="890639"/>
            <a:chOff x="0" y="0"/>
            <a:chExt cx="3383060" cy="24661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83060" cy="246615"/>
            </a:xfrm>
            <a:custGeom>
              <a:avLst/>
              <a:gdLst/>
              <a:ahLst/>
              <a:cxnLst/>
              <a:rect r="r" b="b" t="t" l="l"/>
              <a:pathLst>
                <a:path h="246615" w="3383060">
                  <a:moveTo>
                    <a:pt x="9505" y="0"/>
                  </a:moveTo>
                  <a:lnTo>
                    <a:pt x="3373555" y="0"/>
                  </a:lnTo>
                  <a:cubicBezTo>
                    <a:pt x="3376076" y="0"/>
                    <a:pt x="3378494" y="1001"/>
                    <a:pt x="3380276" y="2784"/>
                  </a:cubicBezTo>
                  <a:cubicBezTo>
                    <a:pt x="3382059" y="4566"/>
                    <a:pt x="3383060" y="6984"/>
                    <a:pt x="3383060" y="9505"/>
                  </a:cubicBezTo>
                  <a:lnTo>
                    <a:pt x="3383060" y="237110"/>
                  </a:lnTo>
                  <a:cubicBezTo>
                    <a:pt x="3383060" y="239631"/>
                    <a:pt x="3382059" y="242049"/>
                    <a:pt x="3380276" y="243831"/>
                  </a:cubicBezTo>
                  <a:cubicBezTo>
                    <a:pt x="3378494" y="245614"/>
                    <a:pt x="3376076" y="246615"/>
                    <a:pt x="3373555" y="246615"/>
                  </a:cubicBezTo>
                  <a:lnTo>
                    <a:pt x="9505" y="246615"/>
                  </a:lnTo>
                  <a:cubicBezTo>
                    <a:pt x="6984" y="246615"/>
                    <a:pt x="4566" y="245614"/>
                    <a:pt x="2784" y="243831"/>
                  </a:cubicBezTo>
                  <a:cubicBezTo>
                    <a:pt x="1001" y="242049"/>
                    <a:pt x="0" y="239631"/>
                    <a:pt x="0" y="237110"/>
                  </a:cubicBezTo>
                  <a:lnTo>
                    <a:pt x="0" y="9505"/>
                  </a:lnTo>
                  <a:cubicBezTo>
                    <a:pt x="0" y="6984"/>
                    <a:pt x="1001" y="4566"/>
                    <a:pt x="2784" y="2784"/>
                  </a:cubicBezTo>
                  <a:cubicBezTo>
                    <a:pt x="4566" y="1001"/>
                    <a:pt x="6984" y="0"/>
                    <a:pt x="950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383060" cy="284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199618" y="6641575"/>
            <a:ext cx="650731" cy="65073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D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268171" y="6710127"/>
            <a:ext cx="513625" cy="51362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2" id="62"/>
          <p:cNvSpPr/>
          <p:nvPr/>
        </p:nvSpPr>
        <p:spPr>
          <a:xfrm>
            <a:off x="4118344" y="6670426"/>
            <a:ext cx="0" cy="593028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5405803" y="6670426"/>
            <a:ext cx="0" cy="593028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4" id="64"/>
          <p:cNvSpPr/>
          <p:nvPr/>
        </p:nvSpPr>
        <p:spPr>
          <a:xfrm flipH="false" flipV="false" rot="0">
            <a:off x="4483096" y="4490516"/>
            <a:ext cx="546829" cy="538875"/>
          </a:xfrm>
          <a:custGeom>
            <a:avLst/>
            <a:gdLst/>
            <a:ahLst/>
            <a:cxnLst/>
            <a:rect r="r" b="b" t="t" l="l"/>
            <a:pathLst>
              <a:path h="538875" w="546829">
                <a:moveTo>
                  <a:pt x="0" y="0"/>
                </a:moveTo>
                <a:lnTo>
                  <a:pt x="546829" y="0"/>
                </a:lnTo>
                <a:lnTo>
                  <a:pt x="546829" y="538875"/>
                </a:lnTo>
                <a:lnTo>
                  <a:pt x="0" y="538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4506689" y="5616820"/>
            <a:ext cx="535604" cy="582178"/>
          </a:xfrm>
          <a:custGeom>
            <a:avLst/>
            <a:gdLst/>
            <a:ahLst/>
            <a:cxnLst/>
            <a:rect r="r" b="b" t="t" l="l"/>
            <a:pathLst>
              <a:path h="582178" w="535604">
                <a:moveTo>
                  <a:pt x="0" y="0"/>
                </a:moveTo>
                <a:lnTo>
                  <a:pt x="535603" y="0"/>
                </a:lnTo>
                <a:lnTo>
                  <a:pt x="535603" y="582178"/>
                </a:lnTo>
                <a:lnTo>
                  <a:pt x="0" y="5821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4542172" y="3385305"/>
            <a:ext cx="428677" cy="575405"/>
          </a:xfrm>
          <a:custGeom>
            <a:avLst/>
            <a:gdLst/>
            <a:ahLst/>
            <a:cxnLst/>
            <a:rect r="r" b="b" t="t" l="l"/>
            <a:pathLst>
              <a:path h="575405" w="428677">
                <a:moveTo>
                  <a:pt x="0" y="0"/>
                </a:moveTo>
                <a:lnTo>
                  <a:pt x="428677" y="0"/>
                </a:lnTo>
                <a:lnTo>
                  <a:pt x="428677" y="575405"/>
                </a:lnTo>
                <a:lnTo>
                  <a:pt x="0" y="575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4423364" y="6738708"/>
            <a:ext cx="702253" cy="456465"/>
          </a:xfrm>
          <a:custGeom>
            <a:avLst/>
            <a:gdLst/>
            <a:ahLst/>
            <a:cxnLst/>
            <a:rect r="r" b="b" t="t" l="l"/>
            <a:pathLst>
              <a:path h="456465" w="702253">
                <a:moveTo>
                  <a:pt x="0" y="0"/>
                </a:moveTo>
                <a:lnTo>
                  <a:pt x="702253" y="0"/>
                </a:lnTo>
                <a:lnTo>
                  <a:pt x="702253" y="456464"/>
                </a:lnTo>
                <a:lnTo>
                  <a:pt x="0" y="456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52400" y="152400"/>
            <a:ext cx="18288000" cy="990607"/>
            <a:chOff x="0" y="0"/>
            <a:chExt cx="24384000" cy="132081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384000" cy="1320627"/>
            </a:xfrm>
            <a:custGeom>
              <a:avLst/>
              <a:gdLst/>
              <a:ahLst/>
              <a:cxnLst/>
              <a:rect r="r" b="b" t="t" l="l"/>
              <a:pathLst>
                <a:path h="1320627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320627"/>
                  </a:lnTo>
                  <a:lnTo>
                    <a:pt x="24384000" y="1320627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4686294" y="117249"/>
            <a:ext cx="2596896" cy="1012698"/>
            <a:chOff x="0" y="0"/>
            <a:chExt cx="3462528" cy="135026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3" r="0" b="-24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3026937" y="7612284"/>
            <a:ext cx="12217749" cy="890639"/>
            <a:chOff x="0" y="0"/>
            <a:chExt cx="3383060" cy="24661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383060" cy="246615"/>
            </a:xfrm>
            <a:custGeom>
              <a:avLst/>
              <a:gdLst/>
              <a:ahLst/>
              <a:cxnLst/>
              <a:rect r="r" b="b" t="t" l="l"/>
              <a:pathLst>
                <a:path h="246615" w="3383060">
                  <a:moveTo>
                    <a:pt x="9505" y="0"/>
                  </a:moveTo>
                  <a:lnTo>
                    <a:pt x="3373555" y="0"/>
                  </a:lnTo>
                  <a:cubicBezTo>
                    <a:pt x="3376076" y="0"/>
                    <a:pt x="3378494" y="1001"/>
                    <a:pt x="3380276" y="2784"/>
                  </a:cubicBezTo>
                  <a:cubicBezTo>
                    <a:pt x="3382059" y="4566"/>
                    <a:pt x="3383060" y="6984"/>
                    <a:pt x="3383060" y="9505"/>
                  </a:cubicBezTo>
                  <a:lnTo>
                    <a:pt x="3383060" y="237110"/>
                  </a:lnTo>
                  <a:cubicBezTo>
                    <a:pt x="3383060" y="239631"/>
                    <a:pt x="3382059" y="242049"/>
                    <a:pt x="3380276" y="243831"/>
                  </a:cubicBezTo>
                  <a:cubicBezTo>
                    <a:pt x="3378494" y="245614"/>
                    <a:pt x="3376076" y="246615"/>
                    <a:pt x="3373555" y="246615"/>
                  </a:cubicBezTo>
                  <a:lnTo>
                    <a:pt x="9505" y="246615"/>
                  </a:lnTo>
                  <a:cubicBezTo>
                    <a:pt x="6984" y="246615"/>
                    <a:pt x="4566" y="245614"/>
                    <a:pt x="2784" y="243831"/>
                  </a:cubicBezTo>
                  <a:cubicBezTo>
                    <a:pt x="1001" y="242049"/>
                    <a:pt x="0" y="239631"/>
                    <a:pt x="0" y="237110"/>
                  </a:cubicBezTo>
                  <a:lnTo>
                    <a:pt x="0" y="9505"/>
                  </a:lnTo>
                  <a:cubicBezTo>
                    <a:pt x="0" y="6984"/>
                    <a:pt x="1001" y="4566"/>
                    <a:pt x="2784" y="2784"/>
                  </a:cubicBezTo>
                  <a:cubicBezTo>
                    <a:pt x="4566" y="1001"/>
                    <a:pt x="6984" y="0"/>
                    <a:pt x="950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383060" cy="284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3199618" y="7732238"/>
            <a:ext cx="650731" cy="650731"/>
            <a:chOff x="0" y="0"/>
            <a:chExt cx="812800" cy="812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DFFF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3268171" y="7800791"/>
            <a:ext cx="513625" cy="513625"/>
            <a:chOff x="0" y="0"/>
            <a:chExt cx="812800" cy="812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7" id="87"/>
          <p:cNvSpPr/>
          <p:nvPr/>
        </p:nvSpPr>
        <p:spPr>
          <a:xfrm>
            <a:off x="4118344" y="7761090"/>
            <a:ext cx="0" cy="593028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>
            <a:off x="5405803" y="7761090"/>
            <a:ext cx="0" cy="593028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9" id="89"/>
          <p:cNvSpPr/>
          <p:nvPr/>
        </p:nvSpPr>
        <p:spPr>
          <a:xfrm flipH="false" flipV="false" rot="0">
            <a:off x="4423364" y="7775541"/>
            <a:ext cx="585804" cy="497934"/>
          </a:xfrm>
          <a:custGeom>
            <a:avLst/>
            <a:gdLst/>
            <a:ahLst/>
            <a:cxnLst/>
            <a:rect r="r" b="b" t="t" l="l"/>
            <a:pathLst>
              <a:path h="497934" w="585804">
                <a:moveTo>
                  <a:pt x="0" y="0"/>
                </a:moveTo>
                <a:lnTo>
                  <a:pt x="585804" y="0"/>
                </a:lnTo>
                <a:lnTo>
                  <a:pt x="585804" y="497933"/>
                </a:lnTo>
                <a:lnTo>
                  <a:pt x="0" y="4979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0" id="90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5605629" y="2391732"/>
            <a:ext cx="7689586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902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Project Overview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605629" y="2642384"/>
            <a:ext cx="9265430" cy="26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Understand the project context and objectives.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3272511" y="2532763"/>
            <a:ext cx="537699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90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589253" y="3481687"/>
            <a:ext cx="8818714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902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Project Management Plan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589253" y="3732339"/>
            <a:ext cx="9265430" cy="26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Plan and forecast workload, timelines, and potential risks.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3256134" y="3622718"/>
            <a:ext cx="537699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90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5589253" y="4571642"/>
            <a:ext cx="8818714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902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SRS &amp; SDS Documentation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589253" y="4822294"/>
            <a:ext cx="9265430" cy="26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Understand the project's key business workflows through diagrams.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3256134" y="4712673"/>
            <a:ext cx="537699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90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5589253" y="5661597"/>
            <a:ext cx="8818714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902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Software Test Documentation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5589253" y="5912250"/>
            <a:ext cx="9265430" cy="26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 set of technical manuals comprising the test plan, test cases, and test report.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3256134" y="5802628"/>
            <a:ext cx="537699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90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5589253" y="6751552"/>
            <a:ext cx="8818714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902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Lession Learn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5589253" y="7002205"/>
            <a:ext cx="9265430" cy="26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Lessons learned from the project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3256134" y="6892583"/>
            <a:ext cx="537699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90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788722" y="418404"/>
            <a:ext cx="7368998" cy="67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sz="5905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TARGET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5589253" y="7842216"/>
            <a:ext cx="8818714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902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Demo and Q&amp;A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5589253" y="8092868"/>
            <a:ext cx="9265430" cy="26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Illustrate the project's key business processes.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3256134" y="7983247"/>
            <a:ext cx="537699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902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78859" y="2635165"/>
          <a:ext cx="16130283" cy="5596982"/>
        </p:xfrm>
        <a:graphic>
          <a:graphicData uri="http://schemas.openxmlformats.org/drawingml/2006/table">
            <a:tbl>
              <a:tblPr/>
              <a:tblGrid>
                <a:gridCol w="4749054"/>
                <a:gridCol w="11381228"/>
              </a:tblGrid>
              <a:tr h="9398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01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Project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AI-Powered Examination and Programming Practice Platform for FPT University (APE)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05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Product Background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Currently, IT students at FPT University, as well as those at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other technology-focused universities, face significant difficulties in mastering programming-intensive courses.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64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Baseline 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Codelearn, LeetCode, Gemini Notebo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ok, Quizlet.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46077" y="9575922"/>
            <a:ext cx="7733382" cy="60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3"/>
              </a:lnSpc>
            </a:pPr>
            <a:r>
              <a:rPr lang="en-US" sz="3581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Background &amp; Baseline Systems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2253" y="449703"/>
            <a:ext cx="7368998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PROJECT OVERVIEW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08590" y="352400"/>
            <a:ext cx="603429" cy="60342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52253" y="449703"/>
            <a:ext cx="7368998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PROJECT OVERVIEW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08590" y="352400"/>
            <a:ext cx="603429" cy="60342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01</a:t>
              </a: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1028700" y="1766528"/>
          <a:ext cx="16130283" cy="7441113"/>
        </p:xfrm>
        <a:graphic>
          <a:graphicData uri="http://schemas.openxmlformats.org/drawingml/2006/table">
            <a:tbl>
              <a:tblPr/>
              <a:tblGrid>
                <a:gridCol w="1333072"/>
                <a:gridCol w="4356573"/>
                <a:gridCol w="10440637"/>
              </a:tblGrid>
              <a:tr h="9382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8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Lack of Practice Environment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Provides browser-based MCQ and PE practice environments, eliminating the need for local setup.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36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Lack of Learning Materials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Features AI-powered exam generation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directly from existing study materials.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8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Inability to Self-Assess Code Quality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Integrates an AI Mentor to review code and evaluate submis</a:t>
                      </a: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sion quality.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36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Personalized Material Repository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Allows users to upload personal documents for AI analysis and automated question generation.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46077" y="9575922"/>
            <a:ext cx="4474898" cy="60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3"/>
              </a:lnSpc>
            </a:pPr>
            <a:r>
              <a:rPr lang="en-US" sz="3581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</a:t>
            </a:r>
            <a:r>
              <a:rPr lang="en-US" b="true" sz="358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PROBLEM GAPS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9015" y="1990225"/>
            <a:ext cx="6944985" cy="3587972"/>
            <a:chOff x="0" y="0"/>
            <a:chExt cx="2736292" cy="14136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36292" cy="1413644"/>
            </a:xfrm>
            <a:custGeom>
              <a:avLst/>
              <a:gdLst/>
              <a:ahLst/>
              <a:cxnLst/>
              <a:rect r="r" b="b" t="t" l="l"/>
              <a:pathLst>
                <a:path h="1413644" w="2736292">
                  <a:moveTo>
                    <a:pt x="0" y="0"/>
                  </a:moveTo>
                  <a:lnTo>
                    <a:pt x="2736292" y="0"/>
                  </a:lnTo>
                  <a:lnTo>
                    <a:pt x="2736292" y="1413644"/>
                  </a:lnTo>
                  <a:lnTo>
                    <a:pt x="0" y="1413644"/>
                  </a:lnTo>
                  <a:close/>
                </a:path>
              </a:pathLst>
            </a:custGeom>
            <a:solidFill>
              <a:srgbClr val="DCEA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736292" cy="1413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 spc="-6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AI-Powered Document Ingestion &amp; Vectorization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99015" y="5578197"/>
            <a:ext cx="6944985" cy="3680103"/>
            <a:chOff x="0" y="0"/>
            <a:chExt cx="1889063" cy="10010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9063" cy="1001003"/>
            </a:xfrm>
            <a:custGeom>
              <a:avLst/>
              <a:gdLst/>
              <a:ahLst/>
              <a:cxnLst/>
              <a:rect r="r" b="b" t="t" l="l"/>
              <a:pathLst>
                <a:path h="1001003" w="1889063">
                  <a:moveTo>
                    <a:pt x="0" y="0"/>
                  </a:moveTo>
                  <a:lnTo>
                    <a:pt x="1889063" y="0"/>
                  </a:lnTo>
                  <a:lnTo>
                    <a:pt x="1889063" y="1001003"/>
                  </a:lnTo>
                  <a:lnTo>
                    <a:pt x="0" y="1001003"/>
                  </a:lnTo>
                  <a:close/>
                </a:path>
              </a:pathLst>
            </a:custGeom>
            <a:solidFill>
              <a:srgbClr val="DCEA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89063" cy="1001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 spc="-6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Isolated Coding &amp; MCQ Workspace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5634187"/>
            <a:ext cx="6944985" cy="3624113"/>
            <a:chOff x="0" y="0"/>
            <a:chExt cx="1676760" cy="874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76760" cy="874987"/>
            </a:xfrm>
            <a:custGeom>
              <a:avLst/>
              <a:gdLst/>
              <a:ahLst/>
              <a:cxnLst/>
              <a:rect r="r" b="b" t="t" l="l"/>
              <a:pathLst>
                <a:path h="874987" w="1676760">
                  <a:moveTo>
                    <a:pt x="0" y="0"/>
                  </a:moveTo>
                  <a:lnTo>
                    <a:pt x="1676760" y="0"/>
                  </a:lnTo>
                  <a:lnTo>
                    <a:pt x="1676760" y="874987"/>
                  </a:lnTo>
                  <a:lnTo>
                    <a:pt x="0" y="874987"/>
                  </a:lnTo>
                  <a:close/>
                </a:path>
              </a:pathLst>
            </a:custGeom>
            <a:solidFill>
              <a:srgbClr val="DCEA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676760" cy="874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 spc="-6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AI Code Mentor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1990225"/>
            <a:ext cx="6944985" cy="3643962"/>
            <a:chOff x="0" y="0"/>
            <a:chExt cx="2087791" cy="10954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87791" cy="1095442"/>
            </a:xfrm>
            <a:custGeom>
              <a:avLst/>
              <a:gdLst/>
              <a:ahLst/>
              <a:cxnLst/>
              <a:rect r="r" b="b" t="t" l="l"/>
              <a:pathLst>
                <a:path h="1095442" w="2087791">
                  <a:moveTo>
                    <a:pt x="0" y="0"/>
                  </a:moveTo>
                  <a:lnTo>
                    <a:pt x="2087791" y="0"/>
                  </a:lnTo>
                  <a:lnTo>
                    <a:pt x="2087791" y="1095442"/>
                  </a:lnTo>
                  <a:lnTo>
                    <a:pt x="0" y="1095442"/>
                  </a:lnTo>
                  <a:close/>
                </a:path>
              </a:pathLst>
            </a:custGeom>
            <a:solidFill>
              <a:srgbClr val="DCEA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087791" cy="1095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 spc="-6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AI-Powered MCQ &amp; PE Generation from Uploaded Documents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53313" y="4506174"/>
            <a:ext cx="2181373" cy="218137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 spc="-6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52253" y="449703"/>
            <a:ext cx="7368998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PROJECT OVERVIEW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08590" y="352400"/>
            <a:ext cx="603429" cy="60342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9681" y="9575922"/>
            <a:ext cx="4540684" cy="60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3"/>
              </a:lnSpc>
            </a:pPr>
            <a:r>
              <a:rPr lang="en-US" sz="3581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MAJOR FEATURE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963445">
            <a:off x="-1572566" y="10041012"/>
            <a:ext cx="3962311" cy="4304604"/>
            <a:chOff x="0" y="0"/>
            <a:chExt cx="1043572" cy="1133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3572" cy="1133723"/>
            </a:xfrm>
            <a:custGeom>
              <a:avLst/>
              <a:gdLst/>
              <a:ahLst/>
              <a:cxnLst/>
              <a:rect r="r" b="b" t="t" l="l"/>
              <a:pathLst>
                <a:path h="1133723" w="1043572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5170FF">
                <a:alpha val="8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0653" y="1410103"/>
            <a:ext cx="494289" cy="19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3"/>
              </a:lnSpc>
            </a:pPr>
            <a:r>
              <a:rPr lang="en-US" sz="174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957222" y="3196615"/>
            <a:ext cx="14373556" cy="4474082"/>
            <a:chOff x="0" y="0"/>
            <a:chExt cx="3295098" cy="1025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95098" cy="1025671"/>
            </a:xfrm>
            <a:custGeom>
              <a:avLst/>
              <a:gdLst/>
              <a:ahLst/>
              <a:cxnLst/>
              <a:rect r="r" b="b" t="t" l="l"/>
              <a:pathLst>
                <a:path h="1025671" w="3295098">
                  <a:moveTo>
                    <a:pt x="8079" y="0"/>
                  </a:moveTo>
                  <a:lnTo>
                    <a:pt x="3287019" y="0"/>
                  </a:lnTo>
                  <a:cubicBezTo>
                    <a:pt x="3289162" y="0"/>
                    <a:pt x="3291217" y="851"/>
                    <a:pt x="3292732" y="2366"/>
                  </a:cubicBezTo>
                  <a:cubicBezTo>
                    <a:pt x="3294247" y="3882"/>
                    <a:pt x="3295098" y="5937"/>
                    <a:pt x="3295098" y="8079"/>
                  </a:cubicBezTo>
                  <a:lnTo>
                    <a:pt x="3295098" y="1017592"/>
                  </a:lnTo>
                  <a:cubicBezTo>
                    <a:pt x="3295098" y="1019734"/>
                    <a:pt x="3294247" y="1021789"/>
                    <a:pt x="3292732" y="1023305"/>
                  </a:cubicBezTo>
                  <a:cubicBezTo>
                    <a:pt x="3291217" y="1024820"/>
                    <a:pt x="3289162" y="1025671"/>
                    <a:pt x="3287019" y="1025671"/>
                  </a:cubicBezTo>
                  <a:lnTo>
                    <a:pt x="8079" y="1025671"/>
                  </a:lnTo>
                  <a:cubicBezTo>
                    <a:pt x="3617" y="1025671"/>
                    <a:pt x="0" y="1022054"/>
                    <a:pt x="0" y="1017592"/>
                  </a:cubicBezTo>
                  <a:lnTo>
                    <a:pt x="0" y="8079"/>
                  </a:lnTo>
                  <a:cubicBezTo>
                    <a:pt x="0" y="5937"/>
                    <a:pt x="851" y="3882"/>
                    <a:pt x="2366" y="2366"/>
                  </a:cubicBezTo>
                  <a:cubicBezTo>
                    <a:pt x="3882" y="851"/>
                    <a:pt x="5937" y="0"/>
                    <a:pt x="807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295098" cy="1073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Scope: </a:t>
              </a:r>
              <a:r>
                <a:rPr lang="en-US" sz="22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The project is delivered within the 15 week Capstone Project timeline at FPT University, covering documentation, implementation, and testing.</a:t>
              </a:r>
            </a:p>
            <a:p>
              <a:pPr algn="l">
                <a:lnSpc>
                  <a:spcPts val="3219"/>
                </a:lnSpc>
              </a:pPr>
            </a:p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Estimation: </a:t>
              </a:r>
              <a:r>
                <a:rPr lang="en-US" sz="22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Each Work Breakdown Structure item is assigned a complexity level (Simple, Medium, Complex) and an estimated effort in man-days; group rows are subtotals of their items. Complexity convention - Simple: 2–4 md; Medium: 5–7 md; Complex: 8–12 md. Estimates are allocated across 5 members (4 Developers + 1 Business Analyst) and include design, implementation, unit testing, system testing and integration testing per item.</a:t>
              </a:r>
            </a:p>
            <a:p>
              <a:pPr algn="l">
                <a:lnSpc>
                  <a:spcPts val="32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74942" y="418466"/>
            <a:ext cx="11248512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PROJECT MANAGEMENT PLAN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29602" y="285116"/>
            <a:ext cx="598196" cy="59819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963445">
            <a:off x="-1572566" y="10041012"/>
            <a:ext cx="3962311" cy="4304604"/>
            <a:chOff x="0" y="0"/>
            <a:chExt cx="1043572" cy="1133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3572" cy="1133723"/>
            </a:xfrm>
            <a:custGeom>
              <a:avLst/>
              <a:gdLst/>
              <a:ahLst/>
              <a:cxnLst/>
              <a:rect r="r" b="b" t="t" l="l"/>
              <a:pathLst>
                <a:path h="1133723" w="1043572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5170FF">
                <a:alpha val="8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963445">
            <a:off x="15646403" y="2954235"/>
            <a:ext cx="4311092" cy="4378531"/>
            <a:chOff x="0" y="0"/>
            <a:chExt cx="1135432" cy="1153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5432" cy="1153193"/>
            </a:xfrm>
            <a:custGeom>
              <a:avLst/>
              <a:gdLst/>
              <a:ahLst/>
              <a:cxnLst/>
              <a:rect r="r" b="b" t="t" l="l"/>
              <a:pathLst>
                <a:path h="1153193" w="1135432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C4DFFF">
                <a:alpha val="4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9323" y="2550195"/>
            <a:ext cx="6017857" cy="6396736"/>
          </a:xfrm>
          <a:custGeom>
            <a:avLst/>
            <a:gdLst/>
            <a:ahLst/>
            <a:cxnLst/>
            <a:rect r="r" b="b" t="t" l="l"/>
            <a:pathLst>
              <a:path h="6396736" w="6017857">
                <a:moveTo>
                  <a:pt x="0" y="0"/>
                </a:moveTo>
                <a:lnTo>
                  <a:pt x="6017857" y="0"/>
                </a:lnTo>
                <a:lnTo>
                  <a:pt x="6017857" y="6396736"/>
                </a:lnTo>
                <a:lnTo>
                  <a:pt x="0" y="6396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157177" y="2627056"/>
            <a:ext cx="6008720" cy="5350018"/>
          </a:xfrm>
          <a:custGeom>
            <a:avLst/>
            <a:gdLst/>
            <a:ahLst/>
            <a:cxnLst/>
            <a:rect r="r" b="b" t="t" l="l"/>
            <a:pathLst>
              <a:path h="5350018" w="6008720">
                <a:moveTo>
                  <a:pt x="0" y="0"/>
                </a:moveTo>
                <a:lnTo>
                  <a:pt x="6008720" y="0"/>
                </a:lnTo>
                <a:lnTo>
                  <a:pt x="6008720" y="5350018"/>
                </a:lnTo>
                <a:lnTo>
                  <a:pt x="0" y="5350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149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04595" y="2627056"/>
            <a:ext cx="6003692" cy="5644604"/>
          </a:xfrm>
          <a:custGeom>
            <a:avLst/>
            <a:gdLst/>
            <a:ahLst/>
            <a:cxnLst/>
            <a:rect r="r" b="b" t="t" l="l"/>
            <a:pathLst>
              <a:path h="5644604" w="6003692">
                <a:moveTo>
                  <a:pt x="0" y="0"/>
                </a:moveTo>
                <a:lnTo>
                  <a:pt x="6003692" y="0"/>
                </a:lnTo>
                <a:lnTo>
                  <a:pt x="6003692" y="5644604"/>
                </a:lnTo>
                <a:lnTo>
                  <a:pt x="0" y="5644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3" r="0" b="-2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44472" y="522433"/>
            <a:ext cx="11248512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PROJECT MANAGEMENT PLAN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03467" y="389083"/>
            <a:ext cx="598196" cy="59819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871559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25535"/>
            <a:ext cx="571380" cy="57138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136580" y="1680972"/>
            <a:ext cx="12014841" cy="7734554"/>
          </a:xfrm>
          <a:custGeom>
            <a:avLst/>
            <a:gdLst/>
            <a:ahLst/>
            <a:cxnLst/>
            <a:rect r="r" b="b" t="t" l="l"/>
            <a:pathLst>
              <a:path h="7734554" w="12014841">
                <a:moveTo>
                  <a:pt x="0" y="0"/>
                </a:moveTo>
                <a:lnTo>
                  <a:pt x="12014840" y="0"/>
                </a:lnTo>
                <a:lnTo>
                  <a:pt x="12014840" y="7734554"/>
                </a:lnTo>
                <a:lnTo>
                  <a:pt x="0" y="7734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6657" y="686689"/>
            <a:ext cx="10184566" cy="64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5592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SRS &amp; SDS DOCUMENTATION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8325" y="844434"/>
            <a:ext cx="472131" cy="19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"/>
              </a:lnSpc>
            </a:pPr>
            <a:r>
              <a:rPr lang="en-US" sz="167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302724" y="9540445"/>
            <a:ext cx="5164638" cy="66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0"/>
              </a:lnSpc>
            </a:pPr>
            <a:r>
              <a:rPr lang="en-US" b="true" sz="3871">
                <a:solidFill>
                  <a:srgbClr val="FEFEF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Context Diagram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" r="0" b="-24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48115" y="519849"/>
            <a:ext cx="6637582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SRS &amp; SDS DOCUMENTATION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30504" y="386499"/>
            <a:ext cx="598196" cy="59819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30504" y="386499"/>
            <a:ext cx="598196" cy="59819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417469" y="1690158"/>
            <a:ext cx="10411889" cy="7568142"/>
          </a:xfrm>
          <a:custGeom>
            <a:avLst/>
            <a:gdLst/>
            <a:ahLst/>
            <a:cxnLst/>
            <a:rect r="r" b="b" t="t" l="l"/>
            <a:pathLst>
              <a:path h="7568142" w="10411889">
                <a:moveTo>
                  <a:pt x="0" y="0"/>
                </a:moveTo>
                <a:lnTo>
                  <a:pt x="10411889" y="0"/>
                </a:lnTo>
                <a:lnTo>
                  <a:pt x="10411889" y="7568142"/>
                </a:lnTo>
                <a:lnTo>
                  <a:pt x="0" y="7568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1044737" y="9557075"/>
            <a:ext cx="9668150" cy="64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9"/>
              </a:lnSpc>
            </a:pPr>
            <a:r>
              <a:rPr lang="en-US" b="true" sz="3778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Entity-Relationship Diagram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8115" y="519849"/>
            <a:ext cx="6637582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SRS &amp; SDS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518130" y="1641228"/>
            <a:ext cx="7438693" cy="7708490"/>
          </a:xfrm>
          <a:custGeom>
            <a:avLst/>
            <a:gdLst/>
            <a:ahLst/>
            <a:cxnLst/>
            <a:rect r="r" b="b" t="t" l="l"/>
            <a:pathLst>
              <a:path h="7708490" w="7438693">
                <a:moveTo>
                  <a:pt x="0" y="0"/>
                </a:moveTo>
                <a:lnTo>
                  <a:pt x="7438692" y="0"/>
                </a:lnTo>
                <a:lnTo>
                  <a:pt x="7438692" y="7708490"/>
                </a:lnTo>
                <a:lnTo>
                  <a:pt x="0" y="7708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30504" y="386499"/>
            <a:ext cx="598196" cy="59819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01575" y="1772843"/>
            <a:ext cx="7538353" cy="7321625"/>
          </a:xfrm>
          <a:custGeom>
            <a:avLst/>
            <a:gdLst/>
            <a:ahLst/>
            <a:cxnLst/>
            <a:rect r="r" b="b" t="t" l="l"/>
            <a:pathLst>
              <a:path h="7321625" w="7538353">
                <a:moveTo>
                  <a:pt x="0" y="0"/>
                </a:moveTo>
                <a:lnTo>
                  <a:pt x="7538353" y="0"/>
                </a:lnTo>
                <a:lnTo>
                  <a:pt x="7538353" y="7321626"/>
                </a:lnTo>
                <a:lnTo>
                  <a:pt x="0" y="7321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928" y="9557075"/>
            <a:ext cx="4136958" cy="64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9"/>
              </a:lnSpc>
            </a:pPr>
            <a:r>
              <a:rPr lang="en-US" b="true" sz="3778">
                <a:solidFill>
                  <a:srgbClr val="FEFEF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Usecase Diagram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8115" y="519849"/>
            <a:ext cx="6637582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SRS &amp; SDS DOCUMENTATION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5906"/>
            <a:ext cx="18288000" cy="1376362"/>
            <a:chOff x="0" y="0"/>
            <a:chExt cx="243840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938376" y="1551939"/>
            <a:ext cx="6370870" cy="7757528"/>
          </a:xfrm>
          <a:custGeom>
            <a:avLst/>
            <a:gdLst/>
            <a:ahLst/>
            <a:cxnLst/>
            <a:rect r="r" b="b" t="t" l="l"/>
            <a:pathLst>
              <a:path h="7757528" w="6370870">
                <a:moveTo>
                  <a:pt x="0" y="0"/>
                </a:moveTo>
                <a:lnTo>
                  <a:pt x="6370870" y="0"/>
                </a:lnTo>
                <a:lnTo>
                  <a:pt x="6370870" y="7757528"/>
                </a:lnTo>
                <a:lnTo>
                  <a:pt x="0" y="7757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87543" y="1752186"/>
            <a:ext cx="7571757" cy="7486575"/>
          </a:xfrm>
          <a:custGeom>
            <a:avLst/>
            <a:gdLst/>
            <a:ahLst/>
            <a:cxnLst/>
            <a:rect r="r" b="b" t="t" l="l"/>
            <a:pathLst>
              <a:path h="7486575" w="7571757">
                <a:moveTo>
                  <a:pt x="0" y="0"/>
                </a:moveTo>
                <a:lnTo>
                  <a:pt x="7571757" y="0"/>
                </a:lnTo>
                <a:lnTo>
                  <a:pt x="7571757" y="7486575"/>
                </a:lnTo>
                <a:lnTo>
                  <a:pt x="0" y="7486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862" y="9575922"/>
            <a:ext cx="4285059" cy="60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3"/>
              </a:lnSpc>
            </a:pPr>
            <a:r>
              <a:rPr lang="en-US" b="true" sz="358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Swimlane Diagram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8115" y="519849"/>
            <a:ext cx="6637582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SRS &amp; SDS DOCUMENTATION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30504" y="386499"/>
            <a:ext cx="598196" cy="59819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-15431"/>
            <a:ext cx="18288000" cy="1376362"/>
            <a:chOff x="0" y="0"/>
            <a:chExt cx="24384000" cy="1835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611607" y="1519047"/>
            <a:ext cx="7823619" cy="7952853"/>
          </a:xfrm>
          <a:custGeom>
            <a:avLst/>
            <a:gdLst/>
            <a:ahLst/>
            <a:cxnLst/>
            <a:rect r="r" b="b" t="t" l="l"/>
            <a:pathLst>
              <a:path h="7952853" w="7823619">
                <a:moveTo>
                  <a:pt x="0" y="0"/>
                </a:moveTo>
                <a:lnTo>
                  <a:pt x="7823618" y="0"/>
                </a:lnTo>
                <a:lnTo>
                  <a:pt x="7823618" y="7952853"/>
                </a:lnTo>
                <a:lnTo>
                  <a:pt x="0" y="7952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76381" y="1499997"/>
            <a:ext cx="8371306" cy="7518480"/>
          </a:xfrm>
          <a:custGeom>
            <a:avLst/>
            <a:gdLst/>
            <a:ahLst/>
            <a:cxnLst/>
            <a:rect r="r" b="b" t="t" l="l"/>
            <a:pathLst>
              <a:path h="7518480" w="8371306">
                <a:moveTo>
                  <a:pt x="0" y="0"/>
                </a:moveTo>
                <a:lnTo>
                  <a:pt x="8371307" y="0"/>
                </a:lnTo>
                <a:lnTo>
                  <a:pt x="8371307" y="7518480"/>
                </a:lnTo>
                <a:lnTo>
                  <a:pt x="0" y="7518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9575922"/>
            <a:ext cx="5076877" cy="60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3"/>
              </a:lnSpc>
            </a:pPr>
            <a:r>
              <a:rPr lang="en-US" b="true" sz="3581">
                <a:solidFill>
                  <a:srgbClr val="FEFEF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Swimlane Diagram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8115" y="519849"/>
            <a:ext cx="6637582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SRS &amp; SDS DOCUMENTATION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30504" y="386499"/>
            <a:ext cx="598196" cy="59819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08590" y="1896352"/>
            <a:ext cx="17626844" cy="6995654"/>
          </a:xfrm>
          <a:custGeom>
            <a:avLst/>
            <a:gdLst/>
            <a:ahLst/>
            <a:cxnLst/>
            <a:rect r="r" b="b" t="t" l="l"/>
            <a:pathLst>
              <a:path h="6995654" w="17626844">
                <a:moveTo>
                  <a:pt x="0" y="0"/>
                </a:moveTo>
                <a:lnTo>
                  <a:pt x="17626844" y="0"/>
                </a:lnTo>
                <a:lnTo>
                  <a:pt x="17626844" y="6995654"/>
                </a:lnTo>
                <a:lnTo>
                  <a:pt x="0" y="6995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1425702"/>
            <a:ext cx="14623732" cy="47625"/>
            <a:chOff x="0" y="0"/>
            <a:chExt cx="19498310" cy="63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498056" cy="63260"/>
            </a:xfrm>
            <a:custGeom>
              <a:avLst/>
              <a:gdLst/>
              <a:ahLst/>
              <a:cxnLst/>
              <a:rect r="r" b="b" t="t" l="l"/>
              <a:pathLst>
                <a:path h="63260" w="19498056">
                  <a:moveTo>
                    <a:pt x="19498056" y="0"/>
                  </a:moveTo>
                  <a:lnTo>
                    <a:pt x="0" y="0"/>
                  </a:lnTo>
                  <a:lnTo>
                    <a:pt x="0" y="63260"/>
                  </a:lnTo>
                  <a:lnTo>
                    <a:pt x="19498056" y="63260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" r="0" b="-24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-127616" y="9566397"/>
            <a:ext cx="7851845" cy="60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3"/>
              </a:lnSpc>
            </a:pPr>
            <a:r>
              <a:rPr lang="en-US" sz="3581" b="true">
                <a:solidFill>
                  <a:srgbClr val="FEFEF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Software Architecture Diagram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48115" y="519849"/>
            <a:ext cx="6637582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SRS &amp; SDS DOCUMENTATION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30504" y="386499"/>
            <a:ext cx="598196" cy="59819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1425702"/>
            <a:ext cx="14623732" cy="47625"/>
            <a:chOff x="0" y="0"/>
            <a:chExt cx="19498310" cy="63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98056" cy="63260"/>
            </a:xfrm>
            <a:custGeom>
              <a:avLst/>
              <a:gdLst/>
              <a:ahLst/>
              <a:cxnLst/>
              <a:rect r="r" b="b" t="t" l="l"/>
              <a:pathLst>
                <a:path h="63260" w="19498056">
                  <a:moveTo>
                    <a:pt x="19498056" y="0"/>
                  </a:moveTo>
                  <a:lnTo>
                    <a:pt x="0" y="0"/>
                  </a:lnTo>
                  <a:lnTo>
                    <a:pt x="0" y="63260"/>
                  </a:lnTo>
                  <a:lnTo>
                    <a:pt x="19498056" y="63260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30504" y="386499"/>
            <a:ext cx="598196" cy="59819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259003" y="1547622"/>
            <a:ext cx="10918372" cy="7908996"/>
          </a:xfrm>
          <a:custGeom>
            <a:avLst/>
            <a:gdLst/>
            <a:ahLst/>
            <a:cxnLst/>
            <a:rect r="r" b="b" t="t" l="l"/>
            <a:pathLst>
              <a:path h="7908996" w="10918372">
                <a:moveTo>
                  <a:pt x="0" y="0"/>
                </a:moveTo>
                <a:lnTo>
                  <a:pt x="10918372" y="0"/>
                </a:lnTo>
                <a:lnTo>
                  <a:pt x="10918372" y="7908996"/>
                </a:lnTo>
                <a:lnTo>
                  <a:pt x="0" y="7908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617" y="9575922"/>
            <a:ext cx="5076877" cy="60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3"/>
              </a:lnSpc>
            </a:pPr>
            <a:r>
              <a:rPr lang="en-US" sz="3581" b="true">
                <a:solidFill>
                  <a:srgbClr val="FEFEF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BE PACKAGE DIAGRAM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8115" y="519849"/>
            <a:ext cx="6637582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SRS &amp; SDS 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1425702"/>
            <a:ext cx="14623732" cy="47625"/>
            <a:chOff x="0" y="0"/>
            <a:chExt cx="19498310" cy="63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98056" cy="63260"/>
            </a:xfrm>
            <a:custGeom>
              <a:avLst/>
              <a:gdLst/>
              <a:ahLst/>
              <a:cxnLst/>
              <a:rect r="r" b="b" t="t" l="l"/>
              <a:pathLst>
                <a:path h="63260" w="19498056">
                  <a:moveTo>
                    <a:pt x="19498056" y="0"/>
                  </a:moveTo>
                  <a:lnTo>
                    <a:pt x="0" y="0"/>
                  </a:lnTo>
                  <a:lnTo>
                    <a:pt x="0" y="63260"/>
                  </a:lnTo>
                  <a:lnTo>
                    <a:pt x="19498056" y="63260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30504" y="386499"/>
            <a:ext cx="598196" cy="59819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03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70461" y="2106243"/>
            <a:ext cx="15514991" cy="6496903"/>
          </a:xfrm>
          <a:custGeom>
            <a:avLst/>
            <a:gdLst/>
            <a:ahLst/>
            <a:cxnLst/>
            <a:rect r="r" b="b" t="t" l="l"/>
            <a:pathLst>
              <a:path h="6496903" w="15514991">
                <a:moveTo>
                  <a:pt x="0" y="0"/>
                </a:moveTo>
                <a:lnTo>
                  <a:pt x="15514991" y="0"/>
                </a:lnTo>
                <a:lnTo>
                  <a:pt x="15514991" y="6496902"/>
                </a:lnTo>
                <a:lnTo>
                  <a:pt x="0" y="6496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617" y="9575922"/>
            <a:ext cx="5076877" cy="60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3"/>
              </a:lnSpc>
            </a:pPr>
            <a:r>
              <a:rPr lang="en-US" sz="3581" b="true">
                <a:solidFill>
                  <a:srgbClr val="FEFEF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FE PACKAGE DIAGRAM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8115" y="519849"/>
            <a:ext cx="6637582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SRS &amp; SDS DOCUMENTATION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08590" y="425271"/>
            <a:ext cx="603429" cy="60342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2933969" y="1907210"/>
            <a:ext cx="12194779" cy="7176526"/>
          </a:xfrm>
          <a:custGeom>
            <a:avLst/>
            <a:gdLst/>
            <a:ahLst/>
            <a:cxnLst/>
            <a:rect r="r" b="b" t="t" l="l"/>
            <a:pathLst>
              <a:path h="7176526" w="12194779">
                <a:moveTo>
                  <a:pt x="0" y="0"/>
                </a:moveTo>
                <a:lnTo>
                  <a:pt x="12194779" y="0"/>
                </a:lnTo>
                <a:lnTo>
                  <a:pt x="12194779" y="7176526"/>
                </a:lnTo>
                <a:lnTo>
                  <a:pt x="0" y="7176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19037" y="548926"/>
            <a:ext cx="13264973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SOFTWARE TEST DOCUMENTATION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0998" y="662767"/>
            <a:ext cx="498613" cy="195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6"/>
              </a:lnSpc>
            </a:pPr>
            <a:r>
              <a:rPr lang="en-US" b="true" sz="176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218713" y="9575922"/>
            <a:ext cx="5076877" cy="60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3"/>
              </a:lnSpc>
            </a:pPr>
            <a:r>
              <a:rPr lang="en-US" sz="3581" b="true">
                <a:solidFill>
                  <a:srgbClr val="FEFEF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Unit Test Report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08590" y="425271"/>
            <a:ext cx="603429" cy="60342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65548" y="2186180"/>
            <a:ext cx="16356903" cy="7072120"/>
          </a:xfrm>
          <a:custGeom>
            <a:avLst/>
            <a:gdLst/>
            <a:ahLst/>
            <a:cxnLst/>
            <a:rect r="r" b="b" t="t" l="l"/>
            <a:pathLst>
              <a:path h="7072120" w="16356903">
                <a:moveTo>
                  <a:pt x="0" y="0"/>
                </a:moveTo>
                <a:lnTo>
                  <a:pt x="16356904" y="0"/>
                </a:lnTo>
                <a:lnTo>
                  <a:pt x="16356904" y="7072120"/>
                </a:lnTo>
                <a:lnTo>
                  <a:pt x="0" y="7072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19037" y="548926"/>
            <a:ext cx="13264973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SOFTWARE TEST DOCUMENTATION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0998" y="662767"/>
            <a:ext cx="498613" cy="195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6"/>
              </a:lnSpc>
            </a:pPr>
            <a:r>
              <a:rPr lang="en-US" b="true" sz="176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617" y="9575922"/>
            <a:ext cx="6828974" cy="123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3"/>
              </a:lnSpc>
            </a:pPr>
            <a:r>
              <a:rPr lang="en-US" sz="3581" b="true">
                <a:solidFill>
                  <a:srgbClr val="FEFEF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Intergration Test Report</a:t>
            </a:r>
          </a:p>
          <a:p>
            <a:pPr algn="ctr">
              <a:lnSpc>
                <a:spcPts val="5013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8590" y="425271"/>
            <a:ext cx="603429" cy="60342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358269" y="2179183"/>
            <a:ext cx="11680214" cy="6570120"/>
          </a:xfrm>
          <a:custGeom>
            <a:avLst/>
            <a:gdLst/>
            <a:ahLst/>
            <a:cxnLst/>
            <a:rect r="r" b="b" t="t" l="l"/>
            <a:pathLst>
              <a:path h="6570120" w="11680214">
                <a:moveTo>
                  <a:pt x="0" y="0"/>
                </a:moveTo>
                <a:lnTo>
                  <a:pt x="11680214" y="0"/>
                </a:lnTo>
                <a:lnTo>
                  <a:pt x="11680214" y="6570120"/>
                </a:lnTo>
                <a:lnTo>
                  <a:pt x="0" y="6570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357" r="0" b="-835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617" y="9575922"/>
            <a:ext cx="5076877" cy="60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3"/>
              </a:lnSpc>
            </a:pPr>
            <a:r>
              <a:rPr lang="en-US" sz="3581" b="true">
                <a:solidFill>
                  <a:srgbClr val="FEFEF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System Test Report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9037" y="548926"/>
            <a:ext cx="13264973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SOFTWARE TEST DOCUMENTATION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0998" y="662767"/>
            <a:ext cx="498613" cy="195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6"/>
              </a:lnSpc>
            </a:pPr>
            <a:r>
              <a:rPr lang="en-US" b="true" sz="176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8590" y="425271"/>
            <a:ext cx="603429" cy="60342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62034" y="9829844"/>
            <a:ext cx="4688812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9037" y="548926"/>
            <a:ext cx="13264973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LESSION LEARN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0998" y="662767"/>
            <a:ext cx="498613" cy="199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6"/>
              </a:lnSpc>
            </a:pPr>
            <a:r>
              <a:rPr lang="en-US" sz="1764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035125" y="3242450"/>
            <a:ext cx="12217749" cy="890639"/>
            <a:chOff x="0" y="0"/>
            <a:chExt cx="3383060" cy="2466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83060" cy="246615"/>
            </a:xfrm>
            <a:custGeom>
              <a:avLst/>
              <a:gdLst/>
              <a:ahLst/>
              <a:cxnLst/>
              <a:rect r="r" b="b" t="t" l="l"/>
              <a:pathLst>
                <a:path h="246615" w="3383060">
                  <a:moveTo>
                    <a:pt x="9505" y="0"/>
                  </a:moveTo>
                  <a:lnTo>
                    <a:pt x="3373555" y="0"/>
                  </a:lnTo>
                  <a:cubicBezTo>
                    <a:pt x="3376076" y="0"/>
                    <a:pt x="3378494" y="1001"/>
                    <a:pt x="3380276" y="2784"/>
                  </a:cubicBezTo>
                  <a:cubicBezTo>
                    <a:pt x="3382059" y="4566"/>
                    <a:pt x="3383060" y="6984"/>
                    <a:pt x="3383060" y="9505"/>
                  </a:cubicBezTo>
                  <a:lnTo>
                    <a:pt x="3383060" y="237110"/>
                  </a:lnTo>
                  <a:cubicBezTo>
                    <a:pt x="3383060" y="239631"/>
                    <a:pt x="3382059" y="242049"/>
                    <a:pt x="3380276" y="243831"/>
                  </a:cubicBezTo>
                  <a:cubicBezTo>
                    <a:pt x="3378494" y="245614"/>
                    <a:pt x="3376076" y="246615"/>
                    <a:pt x="3373555" y="246615"/>
                  </a:cubicBezTo>
                  <a:lnTo>
                    <a:pt x="9505" y="246615"/>
                  </a:lnTo>
                  <a:cubicBezTo>
                    <a:pt x="6984" y="246615"/>
                    <a:pt x="4566" y="245614"/>
                    <a:pt x="2784" y="243831"/>
                  </a:cubicBezTo>
                  <a:cubicBezTo>
                    <a:pt x="1001" y="242049"/>
                    <a:pt x="0" y="239631"/>
                    <a:pt x="0" y="237110"/>
                  </a:cubicBezTo>
                  <a:lnTo>
                    <a:pt x="0" y="9505"/>
                  </a:lnTo>
                  <a:cubicBezTo>
                    <a:pt x="0" y="6984"/>
                    <a:pt x="1001" y="4566"/>
                    <a:pt x="2784" y="2784"/>
                  </a:cubicBezTo>
                  <a:cubicBezTo>
                    <a:pt x="4566" y="1001"/>
                    <a:pt x="6984" y="0"/>
                    <a:pt x="950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383060" cy="284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207807" y="3362404"/>
            <a:ext cx="650731" cy="65073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D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276359" y="3430957"/>
            <a:ext cx="513625" cy="51362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4" id="24"/>
          <p:cNvSpPr/>
          <p:nvPr/>
        </p:nvSpPr>
        <p:spPr>
          <a:xfrm>
            <a:off x="4126533" y="3391256"/>
            <a:ext cx="0" cy="593028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3035125" y="4408960"/>
            <a:ext cx="12217749" cy="1752560"/>
            <a:chOff x="0" y="0"/>
            <a:chExt cx="3383060" cy="4852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83060" cy="485279"/>
            </a:xfrm>
            <a:custGeom>
              <a:avLst/>
              <a:gdLst/>
              <a:ahLst/>
              <a:cxnLst/>
              <a:rect r="r" b="b" t="t" l="l"/>
              <a:pathLst>
                <a:path h="485279" w="3383060">
                  <a:moveTo>
                    <a:pt x="9505" y="0"/>
                  </a:moveTo>
                  <a:lnTo>
                    <a:pt x="3373555" y="0"/>
                  </a:lnTo>
                  <a:cubicBezTo>
                    <a:pt x="3376076" y="0"/>
                    <a:pt x="3378494" y="1001"/>
                    <a:pt x="3380276" y="2784"/>
                  </a:cubicBezTo>
                  <a:cubicBezTo>
                    <a:pt x="3382059" y="4566"/>
                    <a:pt x="3383060" y="6984"/>
                    <a:pt x="3383060" y="9505"/>
                  </a:cubicBezTo>
                  <a:lnTo>
                    <a:pt x="3383060" y="475774"/>
                  </a:lnTo>
                  <a:cubicBezTo>
                    <a:pt x="3383060" y="478295"/>
                    <a:pt x="3382059" y="480713"/>
                    <a:pt x="3380276" y="482495"/>
                  </a:cubicBezTo>
                  <a:cubicBezTo>
                    <a:pt x="3378494" y="484278"/>
                    <a:pt x="3376076" y="485279"/>
                    <a:pt x="3373555" y="485279"/>
                  </a:cubicBezTo>
                  <a:lnTo>
                    <a:pt x="9505" y="485279"/>
                  </a:lnTo>
                  <a:cubicBezTo>
                    <a:pt x="6984" y="485279"/>
                    <a:pt x="4566" y="484278"/>
                    <a:pt x="2784" y="482495"/>
                  </a:cubicBezTo>
                  <a:cubicBezTo>
                    <a:pt x="1001" y="480713"/>
                    <a:pt x="0" y="478295"/>
                    <a:pt x="0" y="475774"/>
                  </a:cubicBezTo>
                  <a:lnTo>
                    <a:pt x="0" y="9505"/>
                  </a:lnTo>
                  <a:cubicBezTo>
                    <a:pt x="0" y="6984"/>
                    <a:pt x="1001" y="4566"/>
                    <a:pt x="2784" y="2784"/>
                  </a:cubicBezTo>
                  <a:cubicBezTo>
                    <a:pt x="4566" y="1001"/>
                    <a:pt x="6984" y="0"/>
                    <a:pt x="950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383060" cy="523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207807" y="4951168"/>
            <a:ext cx="650731" cy="65073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D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276359" y="5019721"/>
            <a:ext cx="513625" cy="513625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4" id="34"/>
          <p:cNvSpPr/>
          <p:nvPr/>
        </p:nvSpPr>
        <p:spPr>
          <a:xfrm>
            <a:off x="4126533" y="4557765"/>
            <a:ext cx="0" cy="1437537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3035125" y="6437391"/>
            <a:ext cx="12217749" cy="1339118"/>
            <a:chOff x="0" y="0"/>
            <a:chExt cx="3383060" cy="37079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383060" cy="370798"/>
            </a:xfrm>
            <a:custGeom>
              <a:avLst/>
              <a:gdLst/>
              <a:ahLst/>
              <a:cxnLst/>
              <a:rect r="r" b="b" t="t" l="l"/>
              <a:pathLst>
                <a:path h="370798" w="3383060">
                  <a:moveTo>
                    <a:pt x="9505" y="0"/>
                  </a:moveTo>
                  <a:lnTo>
                    <a:pt x="3373555" y="0"/>
                  </a:lnTo>
                  <a:cubicBezTo>
                    <a:pt x="3376076" y="0"/>
                    <a:pt x="3378494" y="1001"/>
                    <a:pt x="3380276" y="2784"/>
                  </a:cubicBezTo>
                  <a:cubicBezTo>
                    <a:pt x="3382059" y="4566"/>
                    <a:pt x="3383060" y="6984"/>
                    <a:pt x="3383060" y="9505"/>
                  </a:cubicBezTo>
                  <a:lnTo>
                    <a:pt x="3383060" y="361293"/>
                  </a:lnTo>
                  <a:cubicBezTo>
                    <a:pt x="3383060" y="366543"/>
                    <a:pt x="3378805" y="370798"/>
                    <a:pt x="3373555" y="370798"/>
                  </a:cubicBezTo>
                  <a:lnTo>
                    <a:pt x="9505" y="370798"/>
                  </a:lnTo>
                  <a:cubicBezTo>
                    <a:pt x="6984" y="370798"/>
                    <a:pt x="4566" y="369797"/>
                    <a:pt x="2784" y="368014"/>
                  </a:cubicBezTo>
                  <a:cubicBezTo>
                    <a:pt x="1001" y="366232"/>
                    <a:pt x="0" y="363814"/>
                    <a:pt x="0" y="361293"/>
                  </a:cubicBezTo>
                  <a:lnTo>
                    <a:pt x="0" y="9505"/>
                  </a:lnTo>
                  <a:cubicBezTo>
                    <a:pt x="0" y="6984"/>
                    <a:pt x="1001" y="4566"/>
                    <a:pt x="2784" y="2784"/>
                  </a:cubicBezTo>
                  <a:cubicBezTo>
                    <a:pt x="4566" y="1001"/>
                    <a:pt x="6984" y="0"/>
                    <a:pt x="950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383060" cy="408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207807" y="6781584"/>
            <a:ext cx="650731" cy="65073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4D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276359" y="6850137"/>
            <a:ext cx="513625" cy="51362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44" id="44"/>
          <p:cNvSpPr/>
          <p:nvPr/>
        </p:nvSpPr>
        <p:spPr>
          <a:xfrm>
            <a:off x="4126533" y="6586196"/>
            <a:ext cx="0" cy="1015404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3264323" y="3613413"/>
            <a:ext cx="537699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902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264323" y="5202177"/>
            <a:ext cx="537699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902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264323" y="7032593"/>
            <a:ext cx="537699" cy="2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902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414028" y="3353156"/>
            <a:ext cx="9708197" cy="73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Effective teamwork requires clear roles, s</a:t>
            </a:r>
            <a:r>
              <a:rPr lang="en-US" sz="2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hared conventions, and disciplined communication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459908" y="4519665"/>
            <a:ext cx="10422961" cy="1475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Documentation-driven development is the backbone of a serious project — building the system strictly from SRS, UC sp</a:t>
            </a:r>
            <a:r>
              <a:rPr lang="en-US" sz="2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ecifications, and SDS gave the whole team a shared source of truth and eliminated ambiguity about what to build and why.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459908" y="6498677"/>
            <a:ext cx="9708197" cy="110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Systematic testing is a mindset, not a final step — applying unit, integration, system </a:t>
            </a:r>
            <a:r>
              <a:rPr lang="en-US" sz="20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across the sprint cycle showed us that quality must be planned from day one, not squeezed in before the demo.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6362"/>
            <a:chOff x="0" y="0"/>
            <a:chExt cx="24384000" cy="1835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34896"/>
            </a:xfrm>
            <a:custGeom>
              <a:avLst/>
              <a:gdLst/>
              <a:ahLst/>
              <a:cxnLst/>
              <a:rect r="r" b="b" t="t" l="l"/>
              <a:pathLst>
                <a:path h="1834896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834896"/>
                  </a:lnTo>
                  <a:lnTo>
                    <a:pt x="24384000" y="1834896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EAEA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399032"/>
            <a:ext cx="14623732" cy="100965"/>
            <a:chOff x="0" y="0"/>
            <a:chExt cx="19498310" cy="1346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498056" cy="134112"/>
            </a:xfrm>
            <a:custGeom>
              <a:avLst/>
              <a:gdLst/>
              <a:ahLst/>
              <a:cxnLst/>
              <a:rect r="r" b="b" t="t" l="l"/>
              <a:pathLst>
                <a:path h="134112" w="19498056">
                  <a:moveTo>
                    <a:pt x="19498056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19498056" y="134112"/>
                  </a:lnTo>
                  <a:lnTo>
                    <a:pt x="19498056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44116" y="1399032"/>
            <a:ext cx="3644265" cy="100965"/>
            <a:chOff x="0" y="0"/>
            <a:chExt cx="4859020" cy="1346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58512" cy="134112"/>
            </a:xfrm>
            <a:custGeom>
              <a:avLst/>
              <a:gdLst/>
              <a:ahLst/>
              <a:cxnLst/>
              <a:rect r="r" b="b" t="t" l="l"/>
              <a:pathLst>
                <a:path h="134112" w="4858512">
                  <a:moveTo>
                    <a:pt x="4858512" y="0"/>
                  </a:moveTo>
                  <a:lnTo>
                    <a:pt x="0" y="0"/>
                  </a:lnTo>
                  <a:lnTo>
                    <a:pt x="0" y="134112"/>
                  </a:lnTo>
                  <a:lnTo>
                    <a:pt x="4858512" y="134112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E36C0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128748" y="205740"/>
            <a:ext cx="2596896" cy="1012698"/>
            <a:chOff x="0" y="0"/>
            <a:chExt cx="3462528" cy="1350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62528" cy="1350264"/>
            </a:xfrm>
            <a:custGeom>
              <a:avLst/>
              <a:gdLst/>
              <a:ahLst/>
              <a:cxnLst/>
              <a:rect r="r" b="b" t="t" l="l"/>
              <a:pathLst>
                <a:path h="135026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" r="0" b="-2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08590" y="425271"/>
            <a:ext cx="603429" cy="60342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9490950"/>
            <a:ext cx="18288000" cy="821934"/>
            <a:chOff x="0" y="0"/>
            <a:chExt cx="4816593" cy="2164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6592" cy="216476"/>
            </a:xfrm>
            <a:custGeom>
              <a:avLst/>
              <a:gdLst/>
              <a:ahLst/>
              <a:cxnLst/>
              <a:rect r="r" b="b" t="t" l="l"/>
              <a:pathLst>
                <a:path h="2164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00005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241560" y="2333743"/>
            <a:ext cx="7804880" cy="5619513"/>
          </a:xfrm>
          <a:custGeom>
            <a:avLst/>
            <a:gdLst/>
            <a:ahLst/>
            <a:cxnLst/>
            <a:rect r="r" b="b" t="t" l="l"/>
            <a:pathLst>
              <a:path h="5619513" w="7804880">
                <a:moveTo>
                  <a:pt x="0" y="0"/>
                </a:moveTo>
                <a:lnTo>
                  <a:pt x="7804880" y="0"/>
                </a:lnTo>
                <a:lnTo>
                  <a:pt x="7804880" y="5619514"/>
                </a:lnTo>
                <a:lnTo>
                  <a:pt x="0" y="5619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19037" y="548926"/>
            <a:ext cx="13264973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3600" b="true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DEMO AND Q&amp;A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0998" y="662767"/>
            <a:ext cx="498613" cy="199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6"/>
              </a:lnSpc>
            </a:pPr>
            <a:r>
              <a:rPr lang="en-US" sz="1764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62034" y="9829844"/>
            <a:ext cx="4688812" cy="42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</a:p>
          <a:p>
            <a:pPr algn="r">
              <a:lnSpc>
                <a:spcPts val="164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03836" y="2786634"/>
            <a:ext cx="176212" cy="3712845"/>
            <a:chOff x="0" y="0"/>
            <a:chExt cx="234950" cy="4950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696" cy="4949952"/>
            </a:xfrm>
            <a:custGeom>
              <a:avLst/>
              <a:gdLst/>
              <a:ahLst/>
              <a:cxnLst/>
              <a:rect r="r" b="b" t="t" l="l"/>
              <a:pathLst>
                <a:path h="4949952" w="234696">
                  <a:moveTo>
                    <a:pt x="234696" y="0"/>
                  </a:moveTo>
                  <a:lnTo>
                    <a:pt x="0" y="0"/>
                  </a:lnTo>
                  <a:lnTo>
                    <a:pt x="0" y="4949952"/>
                  </a:lnTo>
                  <a:lnTo>
                    <a:pt x="234696" y="4949952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F7954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973050" y="3893058"/>
            <a:ext cx="3774186" cy="1472184"/>
            <a:chOff x="0" y="0"/>
            <a:chExt cx="5032248" cy="19629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32248" cy="1962912"/>
            </a:xfrm>
            <a:custGeom>
              <a:avLst/>
              <a:gdLst/>
              <a:ahLst/>
              <a:cxnLst/>
              <a:rect r="r" b="b" t="t" l="l"/>
              <a:pathLst>
                <a:path h="1962912" w="5032248">
                  <a:moveTo>
                    <a:pt x="0" y="0"/>
                  </a:moveTo>
                  <a:lnTo>
                    <a:pt x="5032248" y="0"/>
                  </a:lnTo>
                  <a:lnTo>
                    <a:pt x="5032248" y="1962912"/>
                  </a:lnTo>
                  <a:lnTo>
                    <a:pt x="0" y="196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" r="0" b="-1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94004" y="3997588"/>
            <a:ext cx="9009229" cy="2291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58"/>
              </a:lnSpc>
            </a:pPr>
            <a:r>
              <a:rPr lang="en-US" sz="15048">
                <a:solidFill>
                  <a:srgbClr val="244060"/>
                </a:solidFill>
                <a:latin typeface="Sedgwick Ave"/>
                <a:ea typeface="Sedgwick Ave"/>
                <a:cs typeface="Sedgwick Ave"/>
                <a:sym typeface="Sedgwick Ave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DAHSFzckC4w</dc:identifier>
  <dcterms:modified xsi:type="dcterms:W3CDTF">2011-08-01T06:04:30Z</dcterms:modified>
  <cp:revision>1</cp:revision>
  <dc:title>Slide Present</dc:title>
</cp:coreProperties>
</file>